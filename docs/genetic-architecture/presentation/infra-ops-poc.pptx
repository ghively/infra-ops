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317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PROOF OF CONCEPT · v0.14.0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0" b="1">
                <a:solidFill>
                  <a:srgbClr val="F1F5F9"/>
                </a:solidFill>
                <a:latin typeface="Calibri"/>
              </a:rPr>
              <a:t>infra-ops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>
                <a:solidFill>
                  <a:srgbClr val="F1F5F9"/>
                </a:solidFill>
                <a:latin typeface="Calibri"/>
              </a:rPr>
              <a:t>Governed multi-agent automation for a PCI card-production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Ansible · self-hosted GitLab CI/CD · Octopus Deploy · mixed Windows/Linux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PCI DSS v4.0.1  +  PCI Card Production  +  PIN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Workflows · Architecture · Governance · Compliance · Harness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The problem, and the bet we made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18488"/>
            <a:ext cx="44450" cy="42611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5193792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Infrastructure work in a card-production environment is slow by design — every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change needs review evidence, compliance mapping, audit trail, and rollback plans.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LLM agents are fast but unaccountable by default: free-form judgment,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no audit trail, nothing stops a bad tool call.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A QSA will never accept “the model was told to be careful.”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18488"/>
            <a:ext cx="44450" cy="4261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8191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The bet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929384"/>
            <a:ext cx="5102352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Make the agent admissible in a CDE by construction: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•  Enforcement in code, not prompts — guardrails execute at the tool boundary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•  Determinism where judgment is dangerous — merge decisions are computed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•  Every action ledgered — append-only audit trail (PCI Req 10)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•  Learning is human-gated — the system never silently changes its own behavior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•  Hard zone separation — corporate (DSS) vs air-gapped HSA (CP + PIN)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What is built and wired today (v0.14.0)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specialist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10 corporate + 6 air-gapped HSA, each with least-privilege tools &amp; output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54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95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743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lazy-loaded expertise — open SKILL.md standard, cross-vendor portable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54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395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code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743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9 event-wired hooks + 4 CLI gates: DLP, zone routing, lint, audit, dual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workflow commands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scaffold, discover, drift-check, review, ingest, promote, rollback, preflight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840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931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audit collections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5029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append-only State Store + SIEM forwarder (PCI Req 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84048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931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portable “genes”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50292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the architecture is captured as a framework-agnostic genome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Everything deterministic is a script with exit codes — runnable in CI with no model in the loop.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Layered: a lean orchestrator over enforced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08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27048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Orchestrator (lean) · 8 commands · 3 contexts — classify → delegate → assemble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1136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508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Specialists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76856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16 isolated agents, fresh context each call · machine-readable verdict contracts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54096"/>
            <a:ext cx="5080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26664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Quality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026664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3 parallel reviewers → deterministic merge gate (any BLOCK blocks · exit 0/1/3)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30752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03904"/>
            <a:ext cx="50800" cy="5303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76472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776472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Tool-boundary hooks: PAN/DLP fail-closed · CHD sensitivity router · investigation gate · lint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53712"/>
            <a:ext cx="50800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262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Knowledge &amp;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526280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24 skills (lazy) · 13 path-scoped rules · governed instinct ledger (human-gated)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30368"/>
            <a:ext cx="7772400" cy="676656"/>
          </a:xfrm>
          <a:prstGeom prst="roundRect">
            <a:avLst>
              <a:gd name="adj" fmla="val 12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50800" cy="5303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27608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276088"/>
            <a:ext cx="5760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Append-only State Store (9 collections) · SIEM forwarding · PCI Req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481328"/>
            <a:ext cx="3108960" cy="4425696"/>
          </a:xfrm>
          <a:prstGeom prst="roundRect">
            <a:avLst>
              <a:gd name="adj" fmla="val 5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1600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TWO ZONES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965960"/>
            <a:ext cx="2788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CORPORATE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PCI DSS v4.0.1 · cloud inference allowed · propose-only (MRs, gated Dev deploy)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246120"/>
            <a:ext cx="2788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HSA (AIR-GAPPED)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PCI CP + PIN · local inference only · dual-control approvals · CPSA gates deployment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Crown jewels untouchable in both zones: PAN/CHD, keys, PINs, HSM 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WORKFLOW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The authoring pipeline — LLM as witness, code as judge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48640" y="1600200"/>
            <a:ext cx="2212848" cy="868680"/>
          </a:xfrm>
          <a:prstGeom prst="homePlate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Calibri"/>
              </a:rPr>
              <a:t>Request</a:t>
            </a:r>
          </a:p>
        </p:txBody>
      </p:sp>
      <p:sp>
        <p:nvSpPr>
          <p:cNvPr id="7" name="Chevron 6"/>
          <p:cNvSpPr/>
          <p:nvPr/>
        </p:nvSpPr>
        <p:spPr>
          <a:xfrm>
            <a:off x="2807208" y="1600200"/>
            <a:ext cx="2212848" cy="86868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Plan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(opus)</a:t>
            </a:r>
          </a:p>
        </p:txBody>
      </p:sp>
      <p:sp>
        <p:nvSpPr>
          <p:cNvPr id="8" name="Chevron 7"/>
          <p:cNvSpPr/>
          <p:nvPr/>
        </p:nvSpPr>
        <p:spPr>
          <a:xfrm>
            <a:off x="5065776" y="1600200"/>
            <a:ext cx="2212848" cy="86868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Author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(opus)</a:t>
            </a:r>
          </a:p>
        </p:txBody>
      </p:sp>
      <p:sp>
        <p:nvSpPr>
          <p:cNvPr id="9" name="Chevron 8"/>
          <p:cNvSpPr/>
          <p:nvPr/>
        </p:nvSpPr>
        <p:spPr>
          <a:xfrm>
            <a:off x="7324344" y="1600200"/>
            <a:ext cx="2212848" cy="86868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3 reviewers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in parallel</a:t>
            </a:r>
          </a:p>
        </p:txBody>
      </p:sp>
      <p:sp>
        <p:nvSpPr>
          <p:cNvPr id="10" name="Chevron 9"/>
          <p:cNvSpPr/>
          <p:nvPr/>
        </p:nvSpPr>
        <p:spPr>
          <a:xfrm>
            <a:off x="9582912" y="1600200"/>
            <a:ext cx="2212848" cy="86868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E1726"/>
                </a:solidFill>
                <a:latin typeface="Calibri"/>
              </a:rPr>
              <a:t>Merge gate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E1726"/>
                </a:solidFill>
                <a:latin typeface="Calibri"/>
              </a:rPr>
              <a:t>(script)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44450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816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playbook-reviewer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63824"/>
            <a:ext cx="32735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correctness · idempotency · runs ansible-lint, syntax, --check --diff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163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sonnet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74320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2852928"/>
            <a:ext cx="44450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816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pci-compliance-reviewer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163824"/>
            <a:ext cx="32735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PCI DSS v4.0.1 controls (Req 3/4/6/7/8/10/12)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8163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sonnet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74320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2852928"/>
            <a:ext cx="44450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2816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secrets-scanner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163824"/>
            <a:ext cx="32735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static PAN / secret / key-material scan — never reproduces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3343" y="28163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haiku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Calibri"/>
              </a:rPr>
              <a:t>Each reviewer returns a first-line token —  VERDICT: PASS | WARN | BLOCK  — the system's machine-readable ABI.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262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36008"/>
            <a:ext cx="44450" cy="13350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994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ALL PASS / WARN → cleared (exit 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946904"/>
            <a:ext cx="3273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Change merges. WARN is advisory and recorded.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45262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4636008"/>
            <a:ext cx="44450" cy="13350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9704" y="45994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ANY BLOCK → revise (exit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9704" y="4946904"/>
            <a:ext cx="3273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Findings return to the author for ONE revision pass. Hard cap: 2 cycles.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5262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3" y="4636008"/>
            <a:ext cx="44450" cy="133502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45994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STILL BLOCKED → escalate (exit 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946904"/>
            <a:ext cx="3273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Stops and hands open findings to a human. Never merges around a BLOCK. Missing verdict = BLOCK.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WORKFLOW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Day-to-day operations — eight commands, all propose-only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18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/scaffold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New role / module / pipeline from canonical templates; structure validated by script before any LLM touches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18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81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/preflight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929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Fail-fast environment checklist: clean tree, no staged secrets, no placeholders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61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24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/infra-discover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72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Read-only estate discovery → knowledge/environment.md — the shared ground truth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51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761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724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/drift-check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072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ansible-playbook --check --diff against targets; reports drift, never auto-remediates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04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67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/playbook-review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15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Parallel correctness + PCI review of any MR or playbook with merged severity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04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867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/knowledge-ingest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215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Classifies docs (PUBLIC → CHD-ADJACENT), indexes, answers scoping questions with citations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47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010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/instinct-promote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58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Human-gated learning: approver + confidence ≥ 0.7 + citations required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9377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047488"/>
            <a:ext cx="44450" cy="80467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5010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/instinct-rollback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358384"/>
            <a:ext cx="519379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First-class undo for learned behavior; HSA items need two approvers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722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Hard rule #1 — propose, never dispose: the system edits code and opens MRs; promotion to test/staging/prod is always human-gated.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Guardrails are code at the tool boundary — not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Every tool call the agent makes passes through these gates. Ignoring the prompt cannot bypass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39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pan-egress-filter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920239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DLP: blocks Luhn-valid PAN / secrets in any tool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993391"/>
            <a:ext cx="1600200" cy="38404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FAIL-CLOSED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87752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sensitivity-router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33472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Denies CHD-adjacent operations toward the cloud; routes to the local 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706624"/>
            <a:ext cx="1600200" cy="38404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FAIL-CLOSED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00984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gateguard-fact-force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46704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Demands blast-radius + rollback facts before any mutating 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3419856"/>
            <a:ext cx="1600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PRE-EDIT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14215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59935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yamllint + ansible-syntax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59935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Quality gates run automatically after every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4133087"/>
            <a:ext cx="1600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POST-WRITE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27448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7316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governance-capture /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773168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Every tool execution appended to the audit store (async, non-blocking)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4846320"/>
            <a:ext cx="1600200" cy="3840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ALWAYS 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0680"/>
            <a:ext cx="11109960" cy="621792"/>
          </a:xfrm>
          <a:prstGeom prst="roundRect">
            <a:avLst>
              <a:gd name="adj" fmla="val 1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dual-control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486400"/>
            <a:ext cx="6035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1F5F9"/>
                </a:solidFill>
                <a:latin typeface="Calibri"/>
              </a:rPr>
              <a:t>HSA / compliance promotions and rollbacks require two named approvers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5559552"/>
            <a:ext cx="1600200" cy="3840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E1726"/>
                </a:solidFill>
                <a:latin typeface="Calibri"/>
              </a:rPr>
              <a:t>TWO-PERSON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Audit trail by construction — PCI DSS Requirement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18488"/>
            <a:ext cx="44450" cy="27980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Unified State Store (append-only)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5193792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9 collections — every tool execution, decision, approval,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promotion and rollback is a structured, schema-validated event: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governanceEvents · observations · knowledgeBase · skillRuns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skillVersions · sessions · workItems · decisions · installState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Capture is asynchronous — auditing never slows the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18488"/>
            <a:ext cx="44450" cy="27980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8191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SIEM forwarding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929384"/>
            <a:ext cx="5102352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Governance events forward to the corporate SIEM endpoint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(PCI CP §6.4 retention) — wiring is built, endpoint config is 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deployment step on the roadmap.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Verdicts, approvers, citations and confidence scores are part of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the event payload: reviews are reconstructable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73168"/>
            <a:ext cx="4445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3659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What an assessor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84064"/>
            <a:ext cx="108173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F1F5F9"/>
                </a:solidFill>
                <a:latin typeface="Calibri"/>
              </a:rPr>
              <a:t>For any merged change: who proposed it (agent + session), the three reviewer verdicts with file:line findings, the computed gate decision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F1F5F9"/>
                </a:solidFill>
                <a:latin typeface="Calibri"/>
              </a:rPr>
              <a:t>with exit code, the revision cycles consumed, the human approver — and for learned behavior, the full promotion provenance with citations.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Self-improvement with a constitution — agents never self-promote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48640" y="1645920"/>
            <a:ext cx="2212848" cy="914400"/>
          </a:xfrm>
          <a:prstGeom prst="homePlate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hooks capture patterns from real work — automatic</a:t>
            </a:r>
          </a:p>
        </p:txBody>
      </p:sp>
      <p:sp>
        <p:nvSpPr>
          <p:cNvPr id="8" name="Chevron 7"/>
          <p:cNvSpPr/>
          <p:nvPr/>
        </p:nvSpPr>
        <p:spPr>
          <a:xfrm>
            <a:off x="2807208" y="1645920"/>
            <a:ext cx="2212848" cy="91440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6974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knowledge-curator drafts instinct candidates with evidence + confidence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5065776" y="1645920"/>
            <a:ext cx="2212848" cy="91440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E1726"/>
                </a:solidFill>
                <a:latin typeface="Calibri"/>
              </a:rPr>
              <a:t>Human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6974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approver required · confidence ≥ 0.7 · citations for compliance items</a:t>
            </a:r>
          </a:p>
        </p:txBody>
      </p:sp>
      <p:sp>
        <p:nvSpPr>
          <p:cNvPr id="12" name="Chevron 11"/>
          <p:cNvSpPr/>
          <p:nvPr/>
        </p:nvSpPr>
        <p:spPr>
          <a:xfrm>
            <a:off x="7324344" y="1645920"/>
            <a:ext cx="2212848" cy="91440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6974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zone-segmented YAML with full provenance (who, when, why, evidence)</a:t>
            </a:r>
          </a:p>
        </p:txBody>
      </p:sp>
      <p:sp>
        <p:nvSpPr>
          <p:cNvPr id="14" name="Chevron 13"/>
          <p:cNvSpPr/>
          <p:nvPr/>
        </p:nvSpPr>
        <p:spPr>
          <a:xfrm>
            <a:off x="9582912" y="1645920"/>
            <a:ext cx="2212848" cy="914400"/>
          </a:xfrm>
          <a:prstGeom prst="chevron">
            <a:avLst/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47504" y="26974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first-class undo · HSA &amp; compliance items need TWO approvers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78808"/>
            <a:ext cx="44450" cy="170078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89704"/>
            <a:ext cx="519379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“Self-improving agents” are the #1 emerging audit risk — frameworks like Hermes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auto-write skills with zero human review, and their own threat models call memory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“the largest unbounded attack surface.”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Here, observation is automatic but behavior change never 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6908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78808"/>
            <a:ext cx="44450" cy="170078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1422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Seeded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489704"/>
            <a:ext cx="510235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10 corporate + 2 HSA instincts (Ansible standards, GitLab CI security,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PCI controls, secrets patterns, supply-chain hardening) — each with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citation, approver, and confidence on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ARCHITECTURE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The genetic architecture — 14 genes, framework-agnostic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We extracted the system into a canonical genome (genome.yaml): 14 invariants with conformance tests.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Any framework “expression” of the system is validated against it — the Claude Code plugin is simply the first phenotype.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 lean orchestrator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48840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G2 specialist roster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G3 delegation envelope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148840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G4 verdict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15768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G5 deterministic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15768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G6 bounded remediation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15768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G7 model tiering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715768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G8 tool-boundary enforcement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82696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G9 governance 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282696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G10 zone separation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82696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G11 lazy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82696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G12 governed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9624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G13 depth-1 delegation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849624"/>
            <a:ext cx="2697480" cy="475488"/>
          </a:xfrm>
          <a:prstGeom prst="roundRect">
            <a:avLst>
              <a:gd name="adj" fmla="val 2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1F5F9"/>
                </a:solidFill>
                <a:latin typeface="Calibri"/>
              </a:rPr>
              <a:t>G14 deterministic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17720"/>
            <a:ext cx="7315200" cy="3840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65429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E1726"/>
                </a:solidFill>
                <a:latin typeface="Calibri"/>
              </a:rPr>
              <a:t>Class A — ports verbatim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654296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Calibri"/>
              </a:rPr>
              <a:t>rules · skills content · instinct ledger · merge gate · state store · templates · validators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9784"/>
            <a:ext cx="493776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663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E1726"/>
                </a:solidFill>
                <a:latin typeface="Calibri"/>
              </a:rPr>
              <a:t>Class B — re-express per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Calibri"/>
              </a:rPr>
              <a:t>orchestration topology · roster wiring · model tiering · zones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41848"/>
            <a:ext cx="2377440" cy="38404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6784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E1726"/>
                </a:solidFill>
                <a:latin typeface="Calibri"/>
              </a:rPr>
              <a:t>Class C — harness-coupled (thin)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67842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Calibri"/>
              </a:rPr>
              <a:t>hook bindings · frontmatter · plugin packaging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996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≈ 70% of the system by value is framework-independent today — we are not locked 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HARNESS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Top 5 recommended harnesses (ranked)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109960" cy="896112"/>
          </a:xfrm>
          <a:prstGeom prst="roundRect">
            <a:avLst>
              <a:gd name="adj" fmla="val 1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64208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172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17904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Calibri"/>
              </a:rPr>
              <a:t>Claude Code / Claude Agent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938528"/>
            <a:ext cx="1783080" cy="32918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E1726"/>
                </a:solidFill>
                <a:latin typeface="Calibri"/>
              </a:rPr>
              <a:t>RUN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The reference expression — everything on the previous slides is live on it. Agent SDK re-hosts it headlessly (CI, services, GitLab webhooks). Genome fit: 9/14 native, 0 misfits.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32304"/>
            <a:ext cx="11109960" cy="896112"/>
          </a:xfrm>
          <a:prstGeom prst="roundRect">
            <a:avLst>
              <a:gd name="adj" fmla="val 1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172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Calibri"/>
              </a:rPr>
              <a:t>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907792"/>
            <a:ext cx="1783080" cy="3291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E1726"/>
                </a:solidFill>
                <a:latin typeface="Calibri"/>
              </a:rPr>
              <a:t>BUILD NEXT (HSA)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78024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Turns our prose orchestration contract into enforced graph structure (gate = code node, remediation = counted cycle) and runs HSA agents on local models natively — the air-gap path our current harness can never provide. Fit: 12/14 native.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01568"/>
            <a:ext cx="11109960" cy="896112"/>
          </a:xfrm>
          <a:prstGeom prst="roundRect">
            <a:avLst>
              <a:gd name="adj" fmla="val 1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602736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172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5643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Calibri"/>
              </a:rPr>
              <a:t>Microsoft Agent Framework 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77056"/>
            <a:ext cx="1783080" cy="3291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E1726"/>
                </a:solidFill>
                <a:latin typeface="Calibri"/>
              </a:rPr>
              <a:t>ENTERPRISE ALTERNATE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447288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AutoGen + Semantic Kernel successor, GA Apr 2026, LTS. Equivalent graph fidelity; OpenTelemetry-native audit feeds the SIEM with the least glue; first-class .NET for the Windows estate. Fit: 11/14 native.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70832"/>
            <a:ext cx="11109960" cy="896112"/>
          </a:xfrm>
          <a:prstGeom prst="roundRect">
            <a:avLst>
              <a:gd name="adj" fmla="val 1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1726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25696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Calibri"/>
              </a:rPr>
              <a:t>Anthropic Managed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846320"/>
            <a:ext cx="178308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E1726"/>
                </a:solidFill>
                <a:latin typeface="Calibri"/>
              </a:rPr>
              <a:t>WATCH (BETA)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416552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Hosted coordinator that enforces our delegation rule at the API level; rubric-graded outcome loops mirror our review gate; vaults + versioned agents are strong. Corporate lane only — inference is never air-gappable. Re-evaluate at GA.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0096"/>
            <a:ext cx="11109960" cy="896112"/>
          </a:xfrm>
          <a:prstGeom prst="roundRect">
            <a:avLst>
              <a:gd name="adj" fmla="val 10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5541264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1726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9496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Calibri"/>
              </a:rPr>
              <a:t>NanoClaw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815584"/>
            <a:ext cx="178308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E1726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385816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Hardened minimal host (~700 LOC) over the Claude Agent SDK with real container-per-channel isolation — a credible chat-ops front door / constrained host. The only Claw-family member with a defensible security profile.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HARNESS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Evaluated and excluded —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18488"/>
            <a:ext cx="4445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OpenAI Agents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1081735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Its flagship peer-handoff idiom is the opposite of our hub-and-spoke control rule; model tiering and the local lane go through shims. Viable only if the org commits to OpenAI.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4445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9631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CrewAI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43784"/>
            <a:ext cx="1081735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Fastest roster prototype, but tool-boundary enforcement is advisory callbacks — not a fail-closed gate every call must cross. Disqualifying for a CDE; fine for throwaway prototypes.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47288"/>
            <a:ext cx="4445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1071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Google ADK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58184"/>
            <a:ext cx="1081735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Solid callbacks and unique A2A interop, but its Gemini/Vertex center of gravity fights a self-hosted, air-gapped estate at every step. Revisit if GCP enters the picture.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61688"/>
            <a:ext cx="4445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2511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OpenClaw (core)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672584"/>
            <a:ext cx="1081735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≈12% of marketplace skills found malicious (341/2,857); CVSS 8.8 one-click RCE (CVE-2026-25253); its channel breadth is exactly the attack surface a CDE must remove.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76088"/>
            <a:ext cx="4445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23951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Hermes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586984"/>
            <a:ext cx="1081735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1F5F9"/>
                </a:solidFill>
                <a:latin typeface="Calibri"/>
              </a:rPr>
              <a:t>The anti-pattern of our learning gene: ungoverned self-improvement, auto-written skills, memory as an unbounded attack surface. We steal its trace-mining idea for instinct candidates — gated by humans.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Ideas adopted from the excluded: SKILL.md cross-vendor portability · GEPA-style trace mining (human-gated) · TEE attestation &amp; kernel sandboxing as audit-depth upgrades.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From proof of concept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66160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726"/>
                </a:solidFill>
                <a:latin typeface="Calibri"/>
              </a:rPr>
              <a:t>NOW — unblock the PoC (P0)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32918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Stand up local model on the PoC box (Ollama + Qwen-coder) — the local lane is wired, endpoint isn't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Create least-privilege GitLab service accounts (read + branch/MR write only)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Run /infra-discover against the real estate → knowledge/environment.md (ground truth)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0876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508760"/>
            <a:ext cx="356616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544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726"/>
                </a:solidFill>
                <a:latin typeface="Calibri"/>
              </a:rPr>
              <a:t>NEXT — prove portability &amp; HSA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194560"/>
            <a:ext cx="32918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Prototype the HSA expression in LangGraph: existing perso-* prompts + merge-gate node + local models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Wire the SIEM endpoint for governance events (PCI CP §6.4 retention)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Validate against the genome conformance checklist (red-team the DLP / zone gates)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508760"/>
            <a:ext cx="3566160" cy="5029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3" y="15544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726"/>
                </a:solidFill>
                <a:latin typeface="Calibri"/>
              </a:rPr>
              <a:t>LATER — production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94560"/>
            <a:ext cx="32918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CPSA design review → HSA deployment unblock (compliance gate, not technical)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Runner topology split: CI / Deploy / Windows / HSA runners (closes the single-box PCI gap)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F1F5F9"/>
                </a:solidFill>
                <a:latin typeface="Calibri"/>
              </a:rPr>
              <a:t>• Molecule test retrofit for existing playbooks; periodic environment re-discovery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Decision checkpoint: after P0 lands and CPSA review is scheduled — confirm LangGraph as the HSA expression (alternate: MS Agent Framework).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1F5F9"/>
                </a:solidFill>
                <a:latin typeface="Calibri"/>
              </a:rPr>
              <a:t>What we're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44450" cy="8321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Green-light PoC continuation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10817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F1F5F9"/>
                </a:solidFill>
                <a:latin typeface="Calibri"/>
              </a:rPr>
              <a:t>Approve the P0 work: local-model hardware on the PoC box, GitLab service accounts, estate discovery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44450" cy="8321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1635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Sponsor the HSA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63824"/>
            <a:ext cx="10817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F1F5F9"/>
                </a:solidFill>
                <a:latin typeface="Calibri"/>
              </a:rPr>
              <a:t>2–3 weeks to express the air-gapped lane in LangGraph using assets we already have — development is not CPSA-gated, only deployment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7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41648"/>
            <a:ext cx="44450" cy="8321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05072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Schedule the CPSA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52544"/>
            <a:ext cx="10817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F1F5F9"/>
                </a:solidFill>
                <a:latin typeface="Calibri"/>
              </a:rPr>
              <a:t>HSA deployment is blocked on compliance review, not engineering. Earlier scheduling = earlier value in the zone that matters most.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The one-line summary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1F5F9"/>
                </a:solidFill>
                <a:latin typeface="Calibri"/>
              </a:rPr>
              <a:t>An agent system a QSA can audit: every action ledgered, every merge computed, every learned behavior human-approved — and 70% portable across the 2026 harness landscape.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infra-ops · governed multi-agent automation ·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